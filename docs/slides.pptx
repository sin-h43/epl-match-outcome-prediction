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B1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1B1B"/>
                </a:solidFill>
                <a:latin typeface="Arial"/>
              </a:rPr>
              <a:t>Match outcome distribution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matches</c:v>
                </c:pt>
              </c:strCache>
            </c:strRef>
          </c:tx>
          <c:spPr>
            <a:solidFill>
              <a:srgbClr val="1F6B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Home win</c:v>
                  </c:pt>
                  <c:pt idx="1">
                    <c:v>Draw</c:v>
                  </c:pt>
                  <c:pt idx="2">
                    <c:v>Home loss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46.2</c:v>
                </c:pt>
                <c:pt idx="1">
                  <c:v>24.8</c:v>
                </c:pt>
                <c:pt idx="2">
                  <c:v>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1B1B"/>
                </a:solidFill>
                <a:latin typeface="Arial"/>
              </a:rPr>
              <a:t>Mean test accuracy (%), 5 random splits (baseline 46.2)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(2)</c:v>
                </c:pt>
              </c:strCache>
            </c:strRef>
          </c:tx>
          <c:spPr>
            <a:solidFill>
              <a:srgbClr val="2B6C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GDA</c:v>
                  </c:pt>
                  <c:pt idx="1">
                    <c:v>SVM lin</c:v>
                  </c:pt>
                  <c:pt idx="2">
                    <c:v>SVM poly5</c:v>
                  </c:pt>
                  <c:pt idx="3">
                    <c:v>SVM RBF</c:v>
                  </c:pt>
                  <c:pt idx="4">
                    <c:v>SoftMax lin</c:v>
                  </c:pt>
                  <c:pt idx="5">
                    <c:v>SoftMax quad</c:v>
                  </c:pt>
                  <c:pt idx="6">
                    <c:v>NN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56.4</c:v>
                </c:pt>
                <c:pt idx="1">
                  <c:v>56.3</c:v>
                </c:pt>
                <c:pt idx="2">
                  <c:v>52.1</c:v>
                </c:pt>
                <c:pt idx="3">
                  <c:v>55.9</c:v>
                </c:pt>
                <c:pt idx="4">
                  <c:v>56.4</c:v>
                </c:pt>
                <c:pt idx="5">
                  <c:v>56.4</c:v>
                </c:pt>
                <c:pt idx="6">
                  <c:v>55.7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F2 (10)</c:v>
                </c:pt>
              </c:strCache>
            </c:strRef>
          </c:tx>
          <c:spPr>
            <a:solidFill>
              <a:srgbClr val="DD8B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GDA</c:v>
                  </c:pt>
                  <c:pt idx="1">
                    <c:v>SVM lin</c:v>
                  </c:pt>
                  <c:pt idx="2">
                    <c:v>SVM poly5</c:v>
                  </c:pt>
                  <c:pt idx="3">
                    <c:v>SVM RBF</c:v>
                  </c:pt>
                  <c:pt idx="4">
                    <c:v>SoftMax lin</c:v>
                  </c:pt>
                  <c:pt idx="5">
                    <c:v>SoftMax quad</c:v>
                  </c:pt>
                  <c:pt idx="6">
                    <c:v>NN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56.6</c:v>
                </c:pt>
                <c:pt idx="1">
                  <c:v>56.7</c:v>
                </c:pt>
                <c:pt idx="2">
                  <c:v>52.3</c:v>
                </c:pt>
                <c:pt idx="3">
                  <c:v>56.7</c:v>
                </c:pt>
                <c:pt idx="4">
                  <c:v>57</c:v>
                </c:pt>
                <c:pt idx="5">
                  <c:v>56.6</c:v>
                </c:pt>
                <c:pt idx="6">
                  <c:v>54.8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F3 (280)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GDA</c:v>
                  </c:pt>
                  <c:pt idx="1">
                    <c:v>SVM lin</c:v>
                  </c:pt>
                  <c:pt idx="2">
                    <c:v>SVM poly5</c:v>
                  </c:pt>
                  <c:pt idx="3">
                    <c:v>SVM RBF</c:v>
                  </c:pt>
                  <c:pt idx="4">
                    <c:v>SoftMax lin</c:v>
                  </c:pt>
                  <c:pt idx="5">
                    <c:v>SoftMax quad</c:v>
                  </c:pt>
                  <c:pt idx="6">
                    <c:v>NN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51.4</c:v>
                </c:pt>
                <c:pt idx="1">
                  <c:v>55.3</c:v>
                </c:pt>
                <c:pt idx="2">
                  <c:v>47.6</c:v>
                </c:pt>
                <c:pt idx="3">
                  <c:v>55.7</c:v>
                </c:pt>
                <c:pt idx="4">
                  <c:v>56.2</c:v>
                </c:pt>
                <c:pt idx="5">
                  <c:v>0</c:v>
                </c:pt>
                <c:pt idx="6">
                  <c:v>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2"/>
          <c:min val="40"/>
        </c:scaling>
        <c:delete val="0"/>
        <c:axPos val="l"/>
        <c:majorGridlines>
          <c:spPr>
            <a:ln w="6350" cap="flat">
              <a:solidFill>
                <a:srgbClr val="DDE3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B1B1B"/>
                </a:solidFill>
                <a:latin typeface="Arial"/>
              </a:rPr>
              <a:t>Feature set F3 (280 features): train vs test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1F6B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GDA</c:v>
                  </c:pt>
                  <c:pt idx="1">
                    <c:v>SVM lin</c:v>
                  </c:pt>
                  <c:pt idx="2">
                    <c:v>SVM poly5</c:v>
                  </c:pt>
                  <c:pt idx="3">
                    <c:v>SVM RBF</c:v>
                  </c:pt>
                  <c:pt idx="4">
                    <c:v>SoftMax lin</c:v>
                  </c:pt>
                  <c:pt idx="5">
                    <c:v>NN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64.2</c:v>
                </c:pt>
                <c:pt idx="1">
                  <c:v>63.1</c:v>
                </c:pt>
                <c:pt idx="2">
                  <c:v>67.8</c:v>
                </c:pt>
                <c:pt idx="3">
                  <c:v>77.7</c:v>
                </c:pt>
                <c:pt idx="4">
                  <c:v>59.5</c:v>
                </c:pt>
                <c:pt idx="5">
                  <c:v>67.9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accuracy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GDA</c:v>
                  </c:pt>
                  <c:pt idx="1">
                    <c:v>SVM lin</c:v>
                  </c:pt>
                  <c:pt idx="2">
                    <c:v>SVM poly5</c:v>
                  </c:pt>
                  <c:pt idx="3">
                    <c:v>SVM RBF</c:v>
                  </c:pt>
                  <c:pt idx="4">
                    <c:v>SoftMax lin</c:v>
                  </c:pt>
                  <c:pt idx="5">
                    <c:v>NN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49.1</c:v>
                </c:pt>
                <c:pt idx="1">
                  <c:v>53.9</c:v>
                </c:pt>
                <c:pt idx="2">
                  <c:v>48</c:v>
                </c:pt>
                <c:pt idx="3">
                  <c:v>54</c:v>
                </c:pt>
                <c:pt idx="4">
                  <c:v>54</c:v>
                </c:pt>
                <c:pt idx="5">
                  <c:v>52.3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2"/>
          <c:min val="40"/>
        </c:scaling>
        <c:delete val="0"/>
        <c:axPos val="l"/>
        <c:majorGridlines>
          <c:spPr>
            <a:ln w="6350" cap="flat">
              <a:solidFill>
                <a:srgbClr val="DDE3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and problem. Based on Harbola &amp; Lee (Stanford CS229, 2019). Our headline: about 57% accuracy from squad ratings alone, versus 46.2% for always guessing a home 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baseline is not 33%: home teams win 46.2% of the time, so a model must beat 46.2% to add value. Draws are the hardest class because they sit between wins and losses.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Scraped from whoscored.com by the paper's authors, seasons 2009/10 to 2018/19. No missing values. Features are season-level so the model is treated as time-independent. We use their public data; the modelling and evaluation pipeline is 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picks the best number from a single split. Differences of about 1% are within split-to-split noise, so we tune with cross-validation on train only and report mean and spread across splits.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repo layout. Everything reproduces with pip install -r requirements.txt then python src/run_experiments.py. Be ready to explain any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10 points above the home-win baseline. A linear model is as good as a neural network. The poly-5 SVM is the weak point in our pipeline; the paper's 58.89% for it came from a single split and we could not reproduce it (about 52% here). The zero bar for SoftMax quad on F3 means not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matches the paper's finding: high-variance regime with the larger feature sets. Using the 2-feature set gives the same accuracy as anything larger.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point is one model and feature set. Points further right predict more draws; they sit lower, meaning overall accuracy is lost. Draws sit between wins and losses in rating space, so ratings alone cannot separate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reproduction gap: it strengthens the credibility of the rest of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three commands live. Point out that draws are rarely the top prediction even when their probability is around 25-30%. Then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822960"/>
            <a:ext cx="2377440" cy="2377440"/>
          </a:xfrm>
          <a:prstGeom prst="ellipse">
            <a:avLst/>
          </a:prstGeom>
          <a:solidFill>
            <a:srgbClr val="1F6B45"/>
          </a:solidFill>
          <a:ln w="25400">
            <a:solidFill>
              <a:srgbClr val="C8F16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92240" y="137160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F1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92240" y="21488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squad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alone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English Premier League Match Outcomes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Win, draw or loss from pre-match squad statistics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74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UE24CS352A Machine Learning - Mini-Project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Sinchana K (PES1UG24AM405)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Sanjana Shastry (PES1UG24AM916)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and the bar to beat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only pre-match information, classify a Premier League game as home win, draw or home loss.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0312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overlapping classes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are the rarest outcome (24.8%)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Football has high inherent randomness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120640" y="105156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303520" y="1143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5B6B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33.3%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14300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guess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120640" y="224028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5303520" y="2331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46.2%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3317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predict home win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3429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303520" y="352044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~57%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5204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best models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Match Prediction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3,791 matches, 3 feature sets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46304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280160"/>
            <a:ext cx="640080" cy="640080"/>
          </a:xfrm>
          <a:prstGeom prst="ellipse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features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243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and away overall roster rating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097280"/>
            <a:ext cx="146304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280160"/>
            <a:ext cx="640080" cy="640080"/>
          </a:xfrm>
          <a:prstGeom prst="ellipse">
            <a:avLst/>
          </a:prstGeom>
          <a:solidFill>
            <a:srgbClr val="DD8B2A"/>
          </a:solidFill>
          <a:ln w="12700">
            <a:solidFill>
              <a:srgbClr val="DD8B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688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67128" y="2468880"/>
            <a:ext cx="1243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+ GK / DEF / MID / ATT average ratings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0" y="1097280"/>
            <a:ext cx="146304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69080" y="1280160"/>
            <a:ext cx="640080" cy="6400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6908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749040" y="2057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features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767328" y="2468880"/>
            <a:ext cx="124358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player: rating, pass %, passes, shots, key passes, blocks, interceptions</a:t>
            </a:r>
            <a:endParaRPr lang="en-US" sz="12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5349240" y="1097280"/>
          <a:ext cx="33375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Match Prediction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a leakage-free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66928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6420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21408" y="114300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231136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2231136" y="166420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85616" y="114300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895344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895344" y="166420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on train only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49824" y="114300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559552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559552" y="166420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test once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14032" y="1143000"/>
            <a:ext cx="1508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22376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1664208"/>
            <a:ext cx="1298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on 5 more splits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697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compared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1089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discriminant analysis (GDA)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SVM: linear, degree-5 polynomial, RBF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regression: linear and quadratic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network, one hidden layer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2697480"/>
            <a:ext cx="3657600" cy="1783080"/>
          </a:xfrm>
          <a:prstGeom prst="roundRect">
            <a:avLst>
              <a:gd name="adj" fmla="val 4103"/>
            </a:avLst>
          </a:prstGeom>
          <a:solidFill>
            <a:srgbClr val="12352B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212080" y="2788920"/>
            <a:ext cx="3383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paper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Hyper-parameters never see the test set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and spread over random splits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 balancing for draws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Match Prediction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94360" y="10972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data.py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468880" y="1097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CSVs, builds F1-F3, splits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75564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468880" y="17556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and hyper-parameter grids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594360" y="241401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run_experiments.py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24140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Tune, evaluate, robustness, balanced run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72384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594360" y="307238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make_figures.py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07238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and results tables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30752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94360" y="373075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B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demo.py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468880" y="37307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with class probabilities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1097280"/>
            <a:ext cx="3063240" cy="3200400"/>
          </a:xfrm>
          <a:prstGeom prst="roundRect">
            <a:avLst>
              <a:gd name="adj" fmla="val 2388"/>
            </a:avLst>
          </a:prstGeom>
          <a:solidFill>
            <a:srgbClr val="12352B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806440" y="118872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8F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3, scikit-learn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matplotlib, seaborn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GitHub repo with README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GDA is scikit-learn QDA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quadratic SoftMax skipped (39k features)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Match Prediction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Result: ~57% with simple models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8521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446520" y="109728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537960" y="11704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F6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57.0%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18288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linear on F2, best mean over splits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46520" y="2834640"/>
            <a:ext cx="22402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583680" y="292608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models differ by ~1%, within split noise (sd 0.7-1.8%). SoftMax quad on F3 not run.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Match Prediction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features means more overfitting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6692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6263640" y="1097280"/>
            <a:ext cx="2423160" cy="338328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0" y="1234440"/>
            <a:ext cx="2148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over models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test 56.5%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test 55.4%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test 51.9%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has 280 features for about 3,000 training rows. Training accuracy climbs to 78% while test accuracy falls.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Match Prediction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Draws are the bottleneck</a:t>
            </a:r>
            <a:endParaRPr lang="en-US" sz="3000" dirty="0"/>
          </a:p>
        </p:txBody>
      </p:sp>
      <p:pic>
        <p:nvPicPr>
          <p:cNvPr id="3" name="Image 0" descr="/home/claude/epl-match-prediction/results/fig3_draw_trad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937760" cy="329921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23560" y="1097280"/>
            <a:ext cx="3063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Well-generalising models (F1, F2) almost never predict a draw: recall at most 7%.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predicts more draws (recall up to 35%) but by overfitting, so accuracy drops.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 lifts draw recall to 20-36% but accuracy falls to about 50-54%.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Match Prediction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35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1F6B45"/>
          </a:solidFill>
          <a:ln w="12700">
            <a:solidFill>
              <a:srgbClr val="1F6B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Ratings work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56-57% vs 46.2% baseline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17720" y="10972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1F6B45"/>
          </a:solidFill>
          <a:ln w="12700">
            <a:solidFill>
              <a:srgbClr val="1F6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20700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wins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6002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models match complex ones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1F6B45"/>
          </a:solidFill>
          <a:ln w="12700">
            <a:solidFill>
              <a:srgbClr val="1F6B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441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 risk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834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features: train 78%, test 54%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233172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1F6B45"/>
          </a:solidFill>
          <a:ln w="12700">
            <a:solidFill>
              <a:srgbClr val="1F6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2441448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1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Draws remain hard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8346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new features or models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 note: the paper's 58.89% (poly-5 SVM) was not reproduced under a leakage-free protocol; its qualitative conclusions were.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form and head-to-head features, two-stage win-vs-draw models, calibration, gradient boosting.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Match Prediction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5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1E1E1E"/>
          </a:solidFill>
          <a:ln w="6350">
            <a:solidFill>
              <a:srgbClr val="E3E8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8F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src/demo.py --random 8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8F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src/demo.py --home 7.15 --away 6.70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C8F1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src/demo.py --interactive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3375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unseen test matches: predicted vs actual, with class probabilities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match from home and away roster ratings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the 80% split only, so test matches are truly unseen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Match Prediction  | 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EPL Match Outcome Prediction</dc:title>
  <dc:subject>PptxGenJS Presentation</dc:subject>
  <dc:creator>PptxGenJS</dc:creator>
  <cp:lastModifiedBy>PptxGenJS</cp:lastModifiedBy>
  <cp:revision>1</cp:revision>
  <dcterms:created xsi:type="dcterms:W3CDTF">2026-09-29T09:37:41Z</dcterms:created>
  <dcterms:modified xsi:type="dcterms:W3CDTF">2026-09-29T09:37:41Z</dcterms:modified>
</cp:coreProperties>
</file>